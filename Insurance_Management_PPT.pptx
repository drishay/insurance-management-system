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handoutMasterIdLst>
    <p:handoutMasterId r:id="rId16"/>
  </p:handoutMasterIdLst>
  <p:sldIdLst>
    <p:sldId id="260" r:id="rId2"/>
    <p:sldId id="265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7" r:id="rId13"/>
    <p:sldId id="305" r:id="rId14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  <a:srgbClr val="FF9933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61AFED-C482-39AC-DD4F-921AB5E206D3}" v="6" dt="2024-12-04T11:43:10.402"/>
    <p1510:client id="{C9B3F3AA-3759-7FD5-8C4D-886D156555AB}" v="7" dt="2024-12-04T19:02:25.4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8" y="44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7B61AFED-C482-39AC-DD4F-921AB5E206D3}"/>
    <pc:docChg chg="modSld">
      <pc:chgData name="" userId="" providerId="" clId="Web-{7B61AFED-C482-39AC-DD4F-921AB5E206D3}" dt="2024-12-04T11:43:10.402" v="5" actId="1076"/>
      <pc:docMkLst>
        <pc:docMk/>
      </pc:docMkLst>
      <pc:sldChg chg="modSp">
        <pc:chgData name="" userId="" providerId="" clId="Web-{7B61AFED-C482-39AC-DD4F-921AB5E206D3}" dt="2024-12-04T11:43:10.402" v="5" actId="1076"/>
        <pc:sldMkLst>
          <pc:docMk/>
          <pc:sldMk cId="685996370" sldId="260"/>
        </pc:sldMkLst>
        <pc:spChg chg="mod">
          <ac:chgData name="" userId="" providerId="" clId="Web-{7B61AFED-C482-39AC-DD4F-921AB5E206D3}" dt="2024-12-04T11:43:10.402" v="3" actId="1076"/>
          <ac:spMkLst>
            <pc:docMk/>
            <pc:sldMk cId="685996370" sldId="260"/>
            <ac:spMk id="3" creationId="{CDF07BBA-293C-9928-F41B-009D80BCDF5D}"/>
          </ac:spMkLst>
        </pc:spChg>
        <pc:spChg chg="mod">
          <ac:chgData name="" userId="" providerId="" clId="Web-{7B61AFED-C482-39AC-DD4F-921AB5E206D3}" dt="2024-12-04T11:43:10.402" v="5" actId="1076"/>
          <ac:spMkLst>
            <pc:docMk/>
            <pc:sldMk cId="685996370" sldId="260"/>
            <ac:spMk id="14" creationId="{00000000-0000-0000-0000-000000000000}"/>
          </ac:spMkLst>
        </pc:spChg>
        <pc:graphicFrameChg chg="mod">
          <ac:chgData name="" userId="" providerId="" clId="Web-{7B61AFED-C482-39AC-DD4F-921AB5E206D3}" dt="2024-12-04T11:43:10.402" v="4" actId="1076"/>
          <ac:graphicFrameMkLst>
            <pc:docMk/>
            <pc:sldMk cId="685996370" sldId="260"/>
            <ac:graphicFrameMk id="6" creationId="{B8D35DFE-0D21-4638-83BD-6EE30128DF90}"/>
          </ac:graphicFrameMkLst>
        </pc:graphicFrameChg>
      </pc:sldChg>
    </pc:docChg>
  </pc:docChgLst>
  <pc:docChgLst>
    <pc:chgData name="Guest User" userId="S::urn:spo:anon#0dc9b4e98fa0f598680cd79213c06cab95e4e544e59a725ced15fed79de212f4::" providerId="AD" clId="Web-{C9B3F3AA-3759-7FD5-8C4D-886D156555AB}"/>
    <pc:docChg chg="addSld">
      <pc:chgData name="Guest User" userId="S::urn:spo:anon#0dc9b4e98fa0f598680cd79213c06cab95e4e544e59a725ced15fed79de212f4::" providerId="AD" clId="Web-{C9B3F3AA-3759-7FD5-8C4D-886D156555AB}" dt="2024-12-04T19:02:25.471" v="6"/>
      <pc:docMkLst>
        <pc:docMk/>
      </pc:docMkLst>
      <pc:sldChg chg="new">
        <pc:chgData name="Guest User" userId="S::urn:spo:anon#0dc9b4e98fa0f598680cd79213c06cab95e4e544e59a725ced15fed79de212f4::" providerId="AD" clId="Web-{C9B3F3AA-3759-7FD5-8C4D-886D156555AB}" dt="2024-12-04T19:02:23.299" v="0"/>
        <pc:sldMkLst>
          <pc:docMk/>
          <pc:sldMk cId="349805876" sldId="307"/>
        </pc:sldMkLst>
      </pc:sldChg>
      <pc:sldChg chg="new">
        <pc:chgData name="Guest User" userId="S::urn:spo:anon#0dc9b4e98fa0f598680cd79213c06cab95e4e544e59a725ced15fed79de212f4::" providerId="AD" clId="Web-{C9B3F3AA-3759-7FD5-8C4D-886D156555AB}" dt="2024-12-04T19:02:24.267" v="1"/>
        <pc:sldMkLst>
          <pc:docMk/>
          <pc:sldMk cId="1005168435" sldId="308"/>
        </pc:sldMkLst>
      </pc:sldChg>
      <pc:sldChg chg="new">
        <pc:chgData name="Guest User" userId="S::urn:spo:anon#0dc9b4e98fa0f598680cd79213c06cab95e4e544e59a725ced15fed79de212f4::" providerId="AD" clId="Web-{C9B3F3AA-3759-7FD5-8C4D-886D156555AB}" dt="2024-12-04T19:02:24.345" v="2"/>
        <pc:sldMkLst>
          <pc:docMk/>
          <pc:sldMk cId="1783663954" sldId="309"/>
        </pc:sldMkLst>
      </pc:sldChg>
      <pc:sldChg chg="new">
        <pc:chgData name="Guest User" userId="S::urn:spo:anon#0dc9b4e98fa0f598680cd79213c06cab95e4e544e59a725ced15fed79de212f4::" providerId="AD" clId="Web-{C9B3F3AA-3759-7FD5-8C4D-886D156555AB}" dt="2024-12-04T19:02:24.564" v="3"/>
        <pc:sldMkLst>
          <pc:docMk/>
          <pc:sldMk cId="421954153" sldId="310"/>
        </pc:sldMkLst>
      </pc:sldChg>
      <pc:sldChg chg="new">
        <pc:chgData name="Guest User" userId="S::urn:spo:anon#0dc9b4e98fa0f598680cd79213c06cab95e4e544e59a725ced15fed79de212f4::" providerId="AD" clId="Web-{C9B3F3AA-3759-7FD5-8C4D-886D156555AB}" dt="2024-12-04T19:02:24.642" v="4"/>
        <pc:sldMkLst>
          <pc:docMk/>
          <pc:sldMk cId="3663260962" sldId="311"/>
        </pc:sldMkLst>
      </pc:sldChg>
      <pc:sldChg chg="new">
        <pc:chgData name="Guest User" userId="S::urn:spo:anon#0dc9b4e98fa0f598680cd79213c06cab95e4e544e59a725ced15fed79de212f4::" providerId="AD" clId="Web-{C9B3F3AA-3759-7FD5-8C4D-886D156555AB}" dt="2024-12-04T19:02:24.892" v="5"/>
        <pc:sldMkLst>
          <pc:docMk/>
          <pc:sldMk cId="1523074988" sldId="312"/>
        </pc:sldMkLst>
      </pc:sldChg>
      <pc:sldChg chg="new">
        <pc:chgData name="Guest User" userId="S::urn:spo:anon#0dc9b4e98fa0f598680cd79213c06cab95e4e544e59a725ced15fed79de212f4::" providerId="AD" clId="Web-{C9B3F3AA-3759-7FD5-8C4D-886D156555AB}" dt="2024-12-04T19:02:25.471" v="6"/>
        <pc:sldMkLst>
          <pc:docMk/>
          <pc:sldMk cId="1201998805" sldId="31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pPr/>
              <a:t>4/24/2026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pPr/>
              <a:t>4/24/2026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21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396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783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032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380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660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ADFAE-A28C-4CBB-AF1F-72965DEFCF4D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0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2"/>
              </a:buClr>
              <a:defRPr/>
            </a:lvl2pPr>
            <a:lvl5pPr>
              <a:defRPr/>
            </a:lvl5pPr>
            <a:lvl6pPr>
              <a:buClr>
                <a:schemeClr val="accent2"/>
              </a:buClr>
              <a:defRPr baseline="0"/>
            </a:lvl6pPr>
            <a:lvl7pPr>
              <a:buClr>
                <a:schemeClr val="accent2"/>
              </a:buClr>
              <a:defRPr baseline="0"/>
            </a:lvl7pPr>
            <a:lvl8pPr>
              <a:buClr>
                <a:schemeClr val="accent2"/>
              </a:buClr>
              <a:defRPr baseline="0"/>
            </a:lvl8pPr>
            <a:lvl9pPr>
              <a:buClr>
                <a:schemeClr val="accent2"/>
              </a:buCl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20CC-AFB4-4774-9973-5F4FD63F67E4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3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19C8-3668-43E4-8F10-417AF16F4AE8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5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4ADB7-B31A-4E12-961E-2F9942586B77}" type="datetime1">
              <a:rPr lang="en-US" smtClean="0"/>
              <a:t>4/24/2026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FBA1D-0AE4-4072-9344-6B3446182A65}" type="datetime1">
              <a:rPr lang="en-US" smtClean="0"/>
              <a:t>4/24/2026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2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7E49F-CE01-457A-AC92-DAF7CD063C1B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6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D71DA-9E8F-4F79-9D0F-E0E20202C29F}" type="datetime1">
              <a:rPr lang="en-US" smtClean="0"/>
              <a:t>4/24/2026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5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594BC-7097-4719-8543-0310B38B85B6}" type="datetime1">
              <a:rPr lang="en-US" smtClean="0"/>
              <a:t>4/24/2026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4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03812" y="457200"/>
            <a:ext cx="6629400" cy="594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385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E8FFB-A4C3-48E3-A9D4-C76F9599A2BB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1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4218C-18F7-452D-9893-EB9AAEF0E253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4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-1" y="0"/>
            <a:ext cx="12188825" cy="6858000"/>
            <a:chOff x="-1" y="0"/>
            <a:chExt cx="12188825" cy="6858000"/>
          </a:xfrm>
        </p:grpSpPr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4164514" y="6705600"/>
              <a:ext cx="8024310" cy="152400"/>
            </a:xfrm>
            <a:prstGeom prst="rect">
              <a:avLst/>
            </a:prstGeom>
            <a:gradFill rotWithShape="0"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1680956" y="1981200"/>
              <a:ext cx="507868" cy="4267200"/>
            </a:xfrm>
            <a:prstGeom prst="rect">
              <a:avLst/>
            </a:prstGeom>
            <a:gradFill rotWithShape="0">
              <a:gsLst>
                <a:gs pos="0">
                  <a:schemeClr val="tx2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-1" y="5257800"/>
              <a:ext cx="609441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-1" y="5410200"/>
              <a:ext cx="609441" cy="1447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11680956" y="0"/>
              <a:ext cx="507868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618015" y="0"/>
              <a:ext cx="4062942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609440" y="304800"/>
              <a:ext cx="711015" cy="762000"/>
            </a:xfrm>
            <a:prstGeom prst="rect">
              <a:avLst/>
            </a:prstGeom>
            <a:solidFill>
              <a:schemeClr val="bg2">
                <a:lumMod val="50000"/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-1" y="1066800"/>
              <a:ext cx="609441" cy="4191000"/>
            </a:xfrm>
            <a:prstGeom prst="rect">
              <a:avLst/>
            </a:prstGeom>
            <a:gradFill rotWithShape="0">
              <a:gsLst>
                <a:gs pos="0">
                  <a:schemeClr val="bg2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-1" y="304800"/>
              <a:ext cx="609441" cy="762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-1" y="0"/>
              <a:ext cx="1320456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320455" y="0"/>
              <a:ext cx="629756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V="1">
              <a:off x="609440" y="304800"/>
              <a:ext cx="0" cy="6553200"/>
            </a:xfrm>
            <a:prstGeom prst="line">
              <a:avLst/>
            </a:prstGeom>
            <a:noFill/>
            <a:ln w="762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609440" y="6705600"/>
              <a:ext cx="11579384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11680956" y="0"/>
              <a:ext cx="0" cy="670560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-1" y="304800"/>
              <a:ext cx="12188825" cy="0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H="1">
              <a:off x="7618015" y="457200"/>
              <a:ext cx="4570809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V="1">
              <a:off x="7618015" y="0"/>
              <a:ext cx="0" cy="4572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11680956" y="1981200"/>
              <a:ext cx="5078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1320455" y="0"/>
              <a:ext cx="0" cy="10668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-1" y="1066800"/>
              <a:ext cx="1320456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 flipH="1">
              <a:off x="-1" y="5257800"/>
              <a:ext cx="609441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H="1">
              <a:off x="-1" y="5410200"/>
              <a:ext cx="6094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OOTs Using JAVA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C52DEA1-2459-4E90-BE7C-F5A98918EE48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2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Clr>
          <a:schemeClr val="accent2"/>
        </a:buClr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etbootstrap.com/docs/" TargetMode="External"/><Relationship Id="rId5" Type="http://schemas.openxmlformats.org/officeDocument/2006/relationships/hyperlink" Target="https://dev.mysql.com/doc/" TargetMode="External"/><Relationship Id="rId4" Type="http://schemas.openxmlformats.org/officeDocument/2006/relationships/hyperlink" Target="https://spring.io/projects/spring-boot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00840" y="738444"/>
            <a:ext cx="9601200" cy="1143000"/>
          </a:xfrm>
        </p:spPr>
        <p:txBody>
          <a:bodyPr>
            <a:normAutofit/>
          </a:bodyPr>
          <a:lstStyle/>
          <a:p>
            <a:pPr algn="ctr"/>
            <a:r>
              <a:rPr lang="en-IN" sz="3800" b="1" dirty="0"/>
              <a:t>Insurance Management System</a:t>
            </a:r>
            <a:r>
              <a:rPr lang="en-IN" dirty="0"/>
              <a:t/>
            </a:r>
            <a:br>
              <a:rPr lang="en-IN" dirty="0"/>
            </a:b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375391" y="1881444"/>
            <a:ext cx="9601200" cy="3421711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US" sz="3200" dirty="0" smtClean="0">
                <a:latin typeface="Arial" pitchFamily="34" charset="0"/>
                <a:cs typeface="Arial" pitchFamily="34" charset="0"/>
              </a:rPr>
              <a:t>Advance Java</a:t>
            </a:r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 marL="0" lvl="0" indent="0" algn="ctr">
              <a:buNone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(BMICSE0352)</a:t>
            </a: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marL="0" lvl="0" indent="0" algn="ctr">
              <a:buNone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Department of Computer Science and Engineering </a:t>
            </a:r>
          </a:p>
          <a:p>
            <a:pPr marL="0" lvl="0" indent="0" algn="ctr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(Submitted To: 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Dr.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Surya Prakash Sharma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)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marL="0" lv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buNone/>
            </a:pPr>
            <a:endParaRPr lang="en-US" dirty="0"/>
          </a:p>
          <a:p>
            <a:pPr marL="0" lvl="0" indent="0" algn="ctr">
              <a:buNone/>
            </a:pPr>
            <a:endParaRPr lang="en-US" dirty="0"/>
          </a:p>
          <a:p>
            <a:pPr marL="0" lvl="0" indent="0" algn="ctr">
              <a:buNone/>
            </a:pPr>
            <a:endParaRPr lang="en-US" dirty="0"/>
          </a:p>
          <a:p>
            <a:pPr marL="0" lvl="0" indent="0" algn="ctr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B8D35DFE-0D21-4638-83BD-6EE30128D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416360"/>
              </p:ext>
            </p:extLst>
          </p:nvPr>
        </p:nvGraphicFramePr>
        <p:xfrm>
          <a:off x="1694047" y="4105005"/>
          <a:ext cx="8602493" cy="15206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275">
                  <a:extLst>
                    <a:ext uri="{9D8B030D-6E8A-4147-A177-3AD203B41FA5}">
                      <a16:colId xmlns:a16="http://schemas.microsoft.com/office/drawing/2014/main" xmlns="" val="1489308670"/>
                    </a:ext>
                  </a:extLst>
                </a:gridCol>
                <a:gridCol w="2069929">
                  <a:extLst>
                    <a:ext uri="{9D8B030D-6E8A-4147-A177-3AD203B41FA5}">
                      <a16:colId xmlns:a16="http://schemas.microsoft.com/office/drawing/2014/main" xmlns="" val="3062725700"/>
                    </a:ext>
                  </a:extLst>
                </a:gridCol>
                <a:gridCol w="2864581">
                  <a:extLst>
                    <a:ext uri="{9D8B030D-6E8A-4147-A177-3AD203B41FA5}">
                      <a16:colId xmlns:a16="http://schemas.microsoft.com/office/drawing/2014/main" xmlns="" val="985814749"/>
                    </a:ext>
                  </a:extLst>
                </a:gridCol>
                <a:gridCol w="2033708">
                  <a:extLst>
                    <a:ext uri="{9D8B030D-6E8A-4147-A177-3AD203B41FA5}">
                      <a16:colId xmlns:a16="http://schemas.microsoft.com/office/drawing/2014/main" xmlns="" val="2731764778"/>
                    </a:ext>
                  </a:extLst>
                </a:gridCol>
              </a:tblGrid>
              <a:tr h="48430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Name of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itchFamily="34" charset="0"/>
                          <a:cs typeface="Arial" pitchFamily="34" charset="0"/>
                        </a:rPr>
                        <a:t>Roll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itchFamily="34" charset="0"/>
                          <a:cs typeface="Arial" pitchFamily="34" charset="0"/>
                        </a:rPr>
                        <a:t>Department n Section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48739875"/>
                  </a:ext>
                </a:extLst>
              </a:tr>
              <a:tr h="48430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Drishay</a:t>
                      </a:r>
                      <a:r>
                        <a:rPr lang="en-US" sz="1400" baseline="0" dirty="0" smtClean="0">
                          <a:latin typeface="Arial" pitchFamily="34" charset="0"/>
                          <a:cs typeface="Arial" pitchFamily="34" charset="0"/>
                        </a:rPr>
                        <a:t> Chauhan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2301330100084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Frontend,</a:t>
                      </a:r>
                      <a:r>
                        <a:rPr lang="en-US" sz="1400" baseline="0" dirty="0" smtClean="0">
                          <a:latin typeface="Arial" pitchFamily="34" charset="0"/>
                          <a:cs typeface="Arial" pitchFamily="34" charset="0"/>
                        </a:rPr>
                        <a:t> Backend, Database, Documentation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CSE-B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74639081"/>
                  </a:ext>
                </a:extLst>
              </a:tr>
              <a:tr h="48430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>
                          <a:latin typeface="Arial" pitchFamily="34" charset="0"/>
                          <a:cs typeface="Arial" pitchFamily="34" charset="0"/>
                        </a:rPr>
                        <a:t>Himanshi</a:t>
                      </a:r>
                      <a:r>
                        <a:rPr lang="en-US" sz="1400" baseline="0" dirty="0" smtClean="0">
                          <a:latin typeface="Arial" pitchFamily="34" charset="0"/>
                          <a:cs typeface="Arial" pitchFamily="34" charset="0"/>
                        </a:rPr>
                        <a:t> Sharma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2301330100095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Frontend,</a:t>
                      </a:r>
                      <a:r>
                        <a:rPr lang="en-US" sz="1400" baseline="0" dirty="0" smtClean="0">
                          <a:latin typeface="Arial" pitchFamily="34" charset="0"/>
                          <a:cs typeface="Arial" pitchFamily="34" charset="0"/>
                        </a:rPr>
                        <a:t> Backend, Database, Documentation</a:t>
                      </a:r>
                      <a:endParaRPr lang="en-US" sz="1400" dirty="0" smtClean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CSE</a:t>
                      </a:r>
                      <a:r>
                        <a:rPr lang="en-US" sz="1400" baseline="0" dirty="0" smtClean="0">
                          <a:latin typeface="Arial" pitchFamily="34" charset="0"/>
                          <a:cs typeface="Arial" pitchFamily="34" charset="0"/>
                        </a:rPr>
                        <a:t>-B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xmlns="" id="{C2D30C3A-395C-C608-9DE6-FE457955F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740" y="738444"/>
            <a:ext cx="2209800" cy="94726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DF07BBA-293C-9928-F41B-009D80BCD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val="68599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4DEE56-5ACD-47A3-8DAE-BAA093015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D05BA36-30B6-42D8-82C9-C62A3F36F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/>
          </a:p>
          <a:p>
            <a:r>
              <a:rPr lang="en-US">
                <a:latin typeface="Arial" pitchFamily="34" charset="0"/>
                <a:cs typeface="Arial" pitchFamily="34" charset="0"/>
              </a:rPr>
              <a:t>Introduction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Literature Survey/Existing System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Problem Statement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Proposed Methodology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Flowcharts and Use Case/ER Diagrams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Feasibility Study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Hardware /Software Requirement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Results and Conclusion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References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Live Demonstration of Project with screenshots in ppt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7647FDC-4C42-4481-9FE6-05DF8CFF7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672" y="628650"/>
            <a:ext cx="2720340" cy="22669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FF969DE-A499-6371-67BC-7727378CC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614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Insurance processes are often manual and time-consuming </a:t>
            </a:r>
          </a:p>
          <a:p>
            <a:r>
              <a:rPr lang="en-US" dirty="0"/>
              <a:t>Difficult to manage policies, users, and claims efficiently </a:t>
            </a:r>
          </a:p>
          <a:p>
            <a:r>
              <a:rPr lang="en-US" dirty="0"/>
              <a:t>Lack of centralized system for users and administrators </a:t>
            </a:r>
          </a:p>
          <a:p>
            <a:r>
              <a:rPr lang="en-US" dirty="0"/>
              <a:t>Proposed system provides a </a:t>
            </a:r>
            <a:r>
              <a:rPr lang="en-US" b="1" dirty="0"/>
              <a:t>web-based solution</a:t>
            </a:r>
            <a:r>
              <a:rPr lang="en-US" dirty="0"/>
              <a:t> </a:t>
            </a:r>
          </a:p>
          <a:p>
            <a:r>
              <a:rPr lang="en-US" dirty="0"/>
              <a:t>Built using </a:t>
            </a:r>
            <a:r>
              <a:rPr lang="en-US" b="1" dirty="0"/>
              <a:t>Spring Boot (Java) with MVC architecture</a:t>
            </a:r>
            <a:r>
              <a:rPr lang="en-US" dirty="0"/>
              <a:t> </a:t>
            </a:r>
          </a:p>
          <a:p>
            <a:r>
              <a:rPr lang="en-US" dirty="0"/>
              <a:t>Automates policy management and claim handling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OOTs Using JAVA Project PPT 2025-26 Odd Sem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657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systems rely on </a:t>
            </a:r>
            <a:r>
              <a:rPr lang="en-US" b="1" dirty="0"/>
              <a:t>manual paperwork</a:t>
            </a:r>
            <a:r>
              <a:rPr lang="en-US" dirty="0"/>
              <a:t> </a:t>
            </a:r>
          </a:p>
          <a:p>
            <a:r>
              <a:rPr lang="en-US" dirty="0"/>
              <a:t>Time-consuming and prone to </a:t>
            </a:r>
            <a:r>
              <a:rPr lang="en-US" b="1" dirty="0"/>
              <a:t>human errors</a:t>
            </a:r>
            <a:r>
              <a:rPr lang="en-US" dirty="0"/>
              <a:t> </a:t>
            </a:r>
          </a:p>
          <a:p>
            <a:r>
              <a:rPr lang="en-US" dirty="0"/>
              <a:t>Limited </a:t>
            </a:r>
            <a:r>
              <a:rPr lang="en-US" b="1" dirty="0"/>
              <a:t>online accessibility</a:t>
            </a:r>
            <a:r>
              <a:rPr lang="en-US" dirty="0"/>
              <a:t> </a:t>
            </a:r>
          </a:p>
          <a:p>
            <a:r>
              <a:rPr lang="en-US" dirty="0"/>
              <a:t>Lack of </a:t>
            </a:r>
            <a:r>
              <a:rPr lang="en-US" b="1" dirty="0"/>
              <a:t>user-friendly interface</a:t>
            </a:r>
            <a:r>
              <a:rPr lang="en-US" dirty="0"/>
              <a:t> </a:t>
            </a:r>
          </a:p>
          <a:p>
            <a:r>
              <a:rPr lang="en-US" dirty="0"/>
              <a:t>No proper </a:t>
            </a:r>
            <a:r>
              <a:rPr lang="en-US" b="1" dirty="0"/>
              <a:t>role-based access control</a:t>
            </a:r>
            <a:r>
              <a:rPr lang="en-US" dirty="0"/>
              <a:t> </a:t>
            </a:r>
          </a:p>
          <a:p>
            <a:r>
              <a:rPr lang="en-US" dirty="0"/>
              <a:t>Claim processing is often </a:t>
            </a:r>
            <a:r>
              <a:rPr lang="en-US" b="1" dirty="0"/>
              <a:t>slow and non-transparent</a:t>
            </a:r>
            <a:r>
              <a:rPr lang="en-US" dirty="0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OOTs Using JAVA Project PPT 2025-26 Odd Sem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22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OOTs Using JAVA Project PPT 2025-26 Odd Sem</a:t>
            </a:r>
            <a:endParaRPr 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idx="1"/>
          </p:nvPr>
        </p:nvSpPr>
        <p:spPr bwMode="auto">
          <a:xfrm>
            <a:off x="1517950" y="1767723"/>
            <a:ext cx="638439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centralized system for managing insurance operations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processes lead to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delays and inefficiency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in tracking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policies and claims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role-based access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of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duplication and inconsistency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Slow and non-transparent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claim processing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040502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7950" y="263893"/>
            <a:ext cx="9601200" cy="1143000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PROPOSED METHODOLOGY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OOTs Using JAVA Project PPT 2025-26 Odd Sem</a:t>
            </a:r>
            <a:endParaRPr 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idx="1"/>
          </p:nvPr>
        </p:nvSpPr>
        <p:spPr bwMode="auto">
          <a:xfrm>
            <a:off x="1517950" y="1524824"/>
            <a:ext cx="6191886" cy="4529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Developed a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web-based system using Spring Boot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Follows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MVC Architecture (Model–View–Controller)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Provides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role-based access (Admin &amp; User)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Users can: </a:t>
            </a:r>
          </a:p>
          <a:p>
            <a:pPr lvl="1">
              <a:lnSpc>
                <a:spcPct val="100000"/>
              </a:lnSpc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Register &amp; Login </a:t>
            </a:r>
          </a:p>
          <a:p>
            <a:pPr lvl="1">
              <a:lnSpc>
                <a:spcPct val="100000"/>
              </a:lnSpc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View and Buy Policies </a:t>
            </a:r>
          </a:p>
          <a:p>
            <a:pPr lvl="1">
              <a:lnSpc>
                <a:spcPct val="100000"/>
              </a:lnSpc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Raise Claims </a:t>
            </a:r>
          </a:p>
          <a:p>
            <a:pPr>
              <a:lnSpc>
                <a:spcPct val="10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Admin can: </a:t>
            </a:r>
          </a:p>
          <a:p>
            <a:pPr lvl="1">
              <a:lnSpc>
                <a:spcPct val="100000"/>
              </a:lnSpc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Add / Delete Policies </a:t>
            </a:r>
          </a:p>
          <a:p>
            <a:pPr lvl="1">
              <a:lnSpc>
                <a:spcPct val="100000"/>
              </a:lnSpc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Approve / Reject Claims </a:t>
            </a:r>
          </a:p>
          <a:p>
            <a:pPr>
              <a:lnSpc>
                <a:spcPct val="10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Uses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MySQL database with JPA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for data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259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7950" y="263893"/>
            <a:ext cx="9601200" cy="1143000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SYSTEM DESIGN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OOTs Using JAVA Project PPT 2025-26 Odd Sem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310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7950" y="263893"/>
            <a:ext cx="9601200" cy="1143000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Feasibility Study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OOTs Using JAVA Project PPT 2025-26 Odd Sem</a:t>
            </a:r>
            <a:endParaRPr lang="en-US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38466" y="1413050"/>
            <a:ext cx="9880684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Feasibility: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Java, Spring Boot, MySQL (widely available technologies)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 Feasibility: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use for both users and admin with simple UI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Economic Feasibility: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cost (open-source tools, no licensing required)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Legal Feasibility: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sensitive data usage, follows basic ethical standards </a:t>
            </a:r>
          </a:p>
        </p:txBody>
      </p:sp>
    </p:spTree>
    <p:extLst>
      <p:ext uri="{BB962C8B-B14F-4D97-AF65-F5344CB8AC3E}">
        <p14:creationId xmlns:p14="http://schemas.microsoft.com/office/powerpoint/2010/main" val="4047525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7950" y="263893"/>
            <a:ext cx="9601200" cy="1143000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REQUIREMENTS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OOTs Using JAVA Project PPT 2025-26 Odd Sem</a:t>
            </a:r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17950" y="1581593"/>
            <a:ext cx="12541718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Requirements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Spring Boot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JSP, HTML, CSS, Bootstrap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Eclipse /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IntelliJ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Maven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17950" y="3670746"/>
            <a:ext cx="1232996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Requirements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Processor: Intel i3 or higher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RAM: Minimum 4 GB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Storage: 500 MB+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Internet connection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59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7950" y="263893"/>
            <a:ext cx="9601200" cy="1143000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Results &amp; Conclusion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OOTs Using JAVA Project PPT 2025-26 Odd Sem</a:t>
            </a:r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517950" y="1556690"/>
            <a:ext cx="706778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Successfully developed a </a:t>
            </a:r>
            <a:r>
              <a:rPr lang="en-US" b="1" dirty="0"/>
              <a:t>web-based insurance system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Users can </a:t>
            </a:r>
            <a:r>
              <a:rPr lang="en-US" b="1" dirty="0"/>
              <a:t>buy policies and raise claims easily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Admin can </a:t>
            </a:r>
            <a:r>
              <a:rPr lang="en-US" b="1" dirty="0"/>
              <a:t>manage policies and approve/reject claims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System ensures </a:t>
            </a:r>
            <a:r>
              <a:rPr lang="en-US" b="1" dirty="0"/>
              <a:t>data integrity and role-based access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517950" y="3315978"/>
            <a:ext cx="6092825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Automates insurance operations efficiently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manual work and errors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user-friendly and secure platform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be extended with advanced features in future </a:t>
            </a:r>
          </a:p>
        </p:txBody>
      </p:sp>
    </p:spTree>
    <p:extLst>
      <p:ext uri="{BB962C8B-B14F-4D97-AF65-F5344CB8AC3E}">
        <p14:creationId xmlns:p14="http://schemas.microsoft.com/office/powerpoint/2010/main" val="601327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7950" y="263893"/>
            <a:ext cx="9601200" cy="1143000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OOTs Using JAVA Project PPT 2025-26 Odd Sem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17950" y="1637959"/>
            <a:ext cx="972435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[1] Oracle Corporation, “Java Documentation,” [Online]. Available: </a:t>
            </a:r>
            <a:r>
              <a:rPr lang="en-IN" dirty="0">
                <a:hlinkClick r:id="rId3"/>
              </a:rPr>
              <a:t>https://docs.oracle.com/javase/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[2] Pivotal Software, “Spring Boot Documentation,” [Online]. Available: </a:t>
            </a:r>
            <a:r>
              <a:rPr lang="en-IN" dirty="0">
                <a:hlinkClick r:id="rId4"/>
              </a:rPr>
              <a:t>https://spring.io/projects/spring-boot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[3] Spring, “Spring Data JPA Reference,” [Online]. Available: https://docs.spring.io/spring-data/jpa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[4] Oracle Corporation, “MySQL Documentation,” [Online]. Available: </a:t>
            </a:r>
            <a:r>
              <a:rPr lang="en-IN" dirty="0">
                <a:hlinkClick r:id="rId5"/>
              </a:rPr>
              <a:t>https://dev.mysql.com/doc/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[5] Bootstrap Team, “Bootstrap Documentation,” [Online]. Available: </a:t>
            </a:r>
            <a:r>
              <a:rPr lang="en-IN" dirty="0">
                <a:hlinkClick r:id="rId6"/>
              </a:rPr>
              <a:t>https://getbootstrap.com/docs/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2763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7950" y="263893"/>
            <a:ext cx="9601200" cy="1143000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Snapshots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OOTs Using JAVA Project PPT 2025-26 Odd Sem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762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9504" y="2667000"/>
            <a:ext cx="9601200" cy="4191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GB" sz="8800">
                <a:solidFill>
                  <a:schemeClr val="accent1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33BA430-BAD9-FBE2-C508-F9B9BDB1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OOTs Using JAVA Project PPT 2025-26 Odd Sem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ertical and Horizontal design templat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ertical and horizontal design slides.potx" id="{7E307492-4344-40EC-954C-E30551E95991}" vid="{493C3130-E1FA-416B-8465-D41FAD56C1B7}"/>
    </a:ext>
  </a:extLst>
</a:theme>
</file>

<file path=ppt/theme/theme2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Vertical and horizontal design slides</Template>
  <TotalTime>327</TotalTime>
  <Words>621</Words>
  <Application>Microsoft Office PowerPoint</Application>
  <PresentationFormat>Custom</PresentationFormat>
  <Paragraphs>123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Century Gothic</vt:lpstr>
      <vt:lpstr>굴림</vt:lpstr>
      <vt:lpstr>Times New Roman</vt:lpstr>
      <vt:lpstr>Vertical and Horizontal design template</vt:lpstr>
      <vt:lpstr>Insurance Management System </vt:lpstr>
      <vt:lpstr>Index</vt:lpstr>
      <vt:lpstr>Introduction</vt:lpstr>
      <vt:lpstr>Existing System</vt:lpstr>
      <vt:lpstr>PROBLEM STATEMENT</vt:lpstr>
      <vt:lpstr>PROPOSED METHODOLOGY</vt:lpstr>
      <vt:lpstr>SYSTEM DESIGN</vt:lpstr>
      <vt:lpstr>Feasibility Study</vt:lpstr>
      <vt:lpstr>REQUIREMENTS</vt:lpstr>
      <vt:lpstr>Results &amp; Conclusion</vt:lpstr>
      <vt:lpstr>References</vt:lpstr>
      <vt:lpstr>Snapshots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Exam Duty Allocation</dc:title>
  <dc:creator>Sudhanshu</dc:creator>
  <cp:lastModifiedBy>Microsoft account</cp:lastModifiedBy>
  <cp:revision>19</cp:revision>
  <dcterms:created xsi:type="dcterms:W3CDTF">2017-11-16T17:39:44Z</dcterms:created>
  <dcterms:modified xsi:type="dcterms:W3CDTF">2026-04-24T10:15:00Z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